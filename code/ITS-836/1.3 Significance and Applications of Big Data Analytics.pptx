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sldIdLst>
    <p:sldId id="599" r:id="rId2"/>
    <p:sldId id="600" r:id="rId3"/>
    <p:sldId id="601" r:id="rId4"/>
    <p:sldId id="602" r:id="rId5"/>
    <p:sldId id="603" r:id="rId6"/>
    <p:sldId id="604" r:id="rId7"/>
    <p:sldId id="605" r:id="rId8"/>
    <p:sldId id="606" r:id="rId9"/>
    <p:sldId id="607" r:id="rId10"/>
    <p:sldId id="608" r:id="rId11"/>
    <p:sldId id="610" r:id="rId12"/>
    <p:sldId id="609" r:id="rId13"/>
    <p:sldId id="461" r:id="rId14"/>
    <p:sldId id="611" r:id="rId15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9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6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1820F3E2-88D1-4442-8306-47035468E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2CFC0F3F-F1AD-4E7D-B327-8678F51B8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E649D3EB-3A48-47A3-98F3-5F410C0D3C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9052E2-2C2A-4D09-817A-A8AF36744DBC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A681-231F-4120-AB95-5F150664DF64}" type="datetime1">
              <a:rPr lang="en-US" smtClean="0"/>
              <a:t>8/21/2025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85C9-91A1-44CA-BB17-F1CF62B0516C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A903E-7D43-409A-BEF0-C6959292D294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8E88-97B6-4B2D-9ED3-EB83EECF46FB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FB18-C299-492C-8725-7FE71F51BE62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2FA2-54A6-49F7-8F18-429EA6BB784D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B99E-7DFA-4E47-98F0-9008D0CBA46D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067C-F40C-4D68-A43A-488A2DB673D7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B2765-9D59-4440-BADD-BDD4D89C9F6E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8148-2F44-46DD-B6BD-67A8C339EB9D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E21E-C844-4F4E-B6E1-7DD63D43AF81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E985E8C-9BAF-428C-A095-AE9281EC0ED8}" type="datetime1">
              <a:rPr lang="en-US" smtClean="0"/>
              <a:t>8/21/2025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82D2DE3-E8A1-40B6-BFC4-12C2DDA212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7539" y="16612"/>
            <a:ext cx="9059158" cy="17526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en-US" altLang="en-US" dirty="0">
                <a:solidFill>
                  <a:schemeClr val="tx1"/>
                </a:solidFill>
              </a:rPr>
            </a:b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Data Science and Big Data Analytics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19B92A08-42F2-4590-94D1-9315AB06A7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575" y="2667000"/>
            <a:ext cx="9273840" cy="4572000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US" altLang="en-US" sz="2700" dirty="0"/>
          </a:p>
          <a:p>
            <a:pPr algn="ctr">
              <a:defRPr/>
            </a:pPr>
            <a:r>
              <a:rPr lang="en-US" dirty="0"/>
              <a:t> </a:t>
            </a:r>
            <a:r>
              <a:rPr lang="en-US" sz="19200" dirty="0"/>
              <a:t>Significance and Applications of Big Data Analytics</a:t>
            </a:r>
            <a:br>
              <a:rPr lang="en-US" sz="5600" dirty="0"/>
            </a:br>
            <a:endParaRPr lang="en-US" altLang="en-US" sz="32000" b="1" dirty="0"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defRPr/>
            </a:pPr>
            <a:endParaRPr lang="en-US" altLang="en-US" sz="14400" b="1" dirty="0"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defRPr/>
            </a:pPr>
            <a:endParaRPr lang="en-US" altLang="en-US" sz="11200" b="1" dirty="0"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defRPr/>
            </a:pPr>
            <a:endParaRPr lang="en-US" altLang="en-US" sz="9600" b="1" dirty="0"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n-US" sz="102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Instructor: Charles Edeki</a:t>
            </a:r>
          </a:p>
          <a:p>
            <a:pPr>
              <a:defRPr/>
            </a:pPr>
            <a:endParaRPr lang="en-US" altLang="en-US" sz="11800" b="1" dirty="0"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12CE3-A8D1-D5B2-34D1-65D33429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BE15-0496-4316-11CC-EEEB8F36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Big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7A7FD-0D89-1D77-8A91-F7AE8745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Big Data?</a:t>
            </a:r>
            <a:endParaRPr lang="en-US" dirty="0"/>
          </a:p>
          <a:p>
            <a:pPr lvl="1"/>
            <a:r>
              <a:rPr lang="en-US" dirty="0"/>
              <a:t>Big Data refers to extremely large datasets that may be analyzed computationally to reveal patterns, trends, and associations, especially relating to human behavior and interactions.</a:t>
            </a:r>
          </a:p>
          <a:p>
            <a:pPr lvl="1"/>
            <a:r>
              <a:rPr lang="en-US" dirty="0"/>
              <a:t>It's characterized by the </a:t>
            </a:r>
            <a:r>
              <a:rPr lang="en-US" b="1" dirty="0"/>
              <a:t>3Vs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Volume:</a:t>
            </a:r>
            <a:r>
              <a:rPr lang="en-US" dirty="0"/>
              <a:t> Immense scale of data.</a:t>
            </a:r>
          </a:p>
          <a:p>
            <a:pPr lvl="2"/>
            <a:r>
              <a:rPr lang="en-US" b="1" dirty="0"/>
              <a:t>Velocity:</a:t>
            </a:r>
            <a:r>
              <a:rPr lang="en-US" dirty="0"/>
              <a:t> High speed of data generation and movement.</a:t>
            </a:r>
          </a:p>
          <a:p>
            <a:pPr lvl="2"/>
            <a:r>
              <a:rPr lang="en-US" b="1" dirty="0"/>
              <a:t>Variety:</a:t>
            </a:r>
            <a:r>
              <a:rPr lang="en-US" dirty="0"/>
              <a:t> Diverse forms of data (structured, unstructured, semi-structured).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F868-AE7F-B459-F315-F1157165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8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94D7-70B2-5F52-1247-DD3F4DE1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Shift from Data to Insights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B7F1-64E0-05CB-8BD5-3CA5A70B1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 alone holds little value. Its true power is unlocked when we </a:t>
            </a:r>
            <a:r>
              <a:rPr lang="en-US" b="1" dirty="0"/>
              <a:t>derive insights</a:t>
            </a:r>
            <a:r>
              <a:rPr lang="en-US" dirty="0"/>
              <a:t>.</a:t>
            </a:r>
          </a:p>
          <a:p>
            <a:r>
              <a:rPr lang="en-US" b="1" dirty="0"/>
              <a:t>Deriving insights</a:t>
            </a:r>
            <a:r>
              <a:rPr lang="en-US" dirty="0"/>
              <a:t> is the process of extracting meaningful, actionable knowledge from data. It's about finding the "why" and "how" behind the numbers.</a:t>
            </a:r>
          </a:p>
          <a:p>
            <a:r>
              <a:rPr lang="en-US" b="1" dirty="0"/>
              <a:t>Analogy:</a:t>
            </a:r>
            <a:r>
              <a:rPr lang="en-US" dirty="0"/>
              <a:t> A gold mine . The rocks and dirt are the raw data. The refined gold, extracted through a rigorous process, represents the valuable insights.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A6E24-C527-F1AB-1977-DC4B4E1A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7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71A0-42AB-73A0-D37A-8E904952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are Big Data Insights Crucial?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CA31-A6EB-3E0F-EB84-683379EAD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Competitive Advantage:</a:t>
            </a:r>
            <a:r>
              <a:rPr lang="en-US" dirty="0"/>
              <a:t> Insights enable businesses to understand their market and customers better than competitors.</a:t>
            </a:r>
          </a:p>
          <a:p>
            <a:r>
              <a:rPr lang="en-US" b="1" dirty="0"/>
              <a:t>Innovation:</a:t>
            </a:r>
            <a:r>
              <a:rPr lang="en-US" dirty="0"/>
              <a:t> Uncovering hidden patterns can lead to new product development and business models.</a:t>
            </a:r>
          </a:p>
          <a:p>
            <a:r>
              <a:rPr lang="en-US" b="1" dirty="0"/>
              <a:t>Efficiency:</a:t>
            </a:r>
            <a:r>
              <a:rPr lang="en-US" dirty="0"/>
              <a:t> Optimizing processes and resource allocation based on data-driven evidence.</a:t>
            </a:r>
          </a:p>
          <a:p>
            <a:r>
              <a:rPr lang="en-US" b="1" dirty="0"/>
              <a:t>Risk Management:</a:t>
            </a:r>
            <a:r>
              <a:rPr lang="en-US" dirty="0"/>
              <a:t> Identifying and mitigating potential risks by analyzing trends and anomalies.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FD1C-E2AA-9F30-02A3-376A338D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6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81D7-6A15-6F21-9BE2-58721191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408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Application in Business &amp; Marketing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BC15-A6D5-339B-AFE9-AF6093772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Customer Personalization:</a:t>
            </a:r>
            <a:endParaRPr lang="en-US" dirty="0"/>
          </a:p>
          <a:p>
            <a:pPr lvl="1"/>
            <a:r>
              <a:rPr lang="en-US" dirty="0"/>
              <a:t>Analyze customer browsing and purchase history to provide </a:t>
            </a:r>
            <a:r>
              <a:rPr lang="en-US" b="1" dirty="0"/>
              <a:t>personalized product recommendations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b="1" dirty="0"/>
              <a:t>Netflix</a:t>
            </a:r>
            <a:r>
              <a:rPr lang="en-US" dirty="0"/>
              <a:t> uses viewing history to suggest shows and movies, driving higher engagement.</a:t>
            </a:r>
          </a:p>
          <a:p>
            <a:r>
              <a:rPr lang="en-US" b="1" dirty="0"/>
              <a:t>Market Trend Analysis:</a:t>
            </a:r>
            <a:endParaRPr lang="en-US" dirty="0"/>
          </a:p>
          <a:p>
            <a:pPr lvl="1"/>
            <a:r>
              <a:rPr lang="en-US" dirty="0"/>
              <a:t>Social media and search data reveal emerging trends and consumer sentiment.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A clothing brand analyzing social media conversations to identify a new fashion trend and quickly create a product line to capitalize on 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1E571-DA87-ADDB-6B14-7687998E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2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891D-09E9-8EE6-508B-450159D5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 in Healthcare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09F90-E177-60B8-B109-BFA49385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Predictive Diagnostics:</a:t>
            </a:r>
            <a:endParaRPr lang="en-US" dirty="0"/>
          </a:p>
          <a:p>
            <a:pPr lvl="1"/>
            <a:r>
              <a:rPr lang="en-US" dirty="0"/>
              <a:t>Analyzing patient medical records, genetic data, and lifestyle information to predict disease risk.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Using machine learning on patient data to predict the likelihood of a patient developing diabetes.</a:t>
            </a:r>
          </a:p>
          <a:p>
            <a:r>
              <a:rPr lang="en-US" b="1" dirty="0"/>
              <a:t>Public Health:</a:t>
            </a:r>
            <a:endParaRPr lang="en-US" dirty="0"/>
          </a:p>
          <a:p>
            <a:pPr lvl="1"/>
            <a:r>
              <a:rPr lang="en-US" dirty="0"/>
              <a:t>Tracking disease outbreaks in real-time by analyzing data from hospitals and mobile devices.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The CDC using aggregated search query data to track and predict the spread of influenza.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3A901-D595-4087-8CA5-22908C9A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6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5726-B3DF-0688-124E-4728F103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 in Finance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C3D19-0DB9-3EB8-EEB0-B2F57ACB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Fraud Detection:</a:t>
            </a:r>
            <a:endParaRPr lang="en-US" dirty="0"/>
          </a:p>
          <a:p>
            <a:pPr lvl="1"/>
            <a:r>
              <a:rPr lang="en-US" dirty="0"/>
              <a:t>Real-time analysis of transaction patterns to identify and flag fraudulent activities.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A bank's system detecting an unusual transaction (e.g., a large purchase made in a foreign country) and immediately alerting the account holder.</a:t>
            </a:r>
          </a:p>
          <a:p>
            <a:r>
              <a:rPr lang="en-US" b="1" dirty="0"/>
              <a:t>Algorithmic Trading:</a:t>
            </a:r>
            <a:endParaRPr lang="en-US" dirty="0"/>
          </a:p>
          <a:p>
            <a:pPr lvl="1"/>
            <a:r>
              <a:rPr lang="en-US" dirty="0"/>
              <a:t>Using insights from market data, news feeds, and social media to make automated trading decisions at high speeds.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9C24B-5845-96CD-F936-BF3405F8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9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0358-4932-8A94-CE29-48A8B2AF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Impact on Decision-Making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17018-7452-5A6D-5A53-2BB630FDF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458200" cy="4876800"/>
          </a:xfrm>
        </p:spPr>
        <p:txBody>
          <a:bodyPr/>
          <a:lstStyle/>
          <a:p>
            <a:r>
              <a:rPr lang="en-US" b="1" dirty="0"/>
              <a:t>Data-Driven Decisions:</a:t>
            </a:r>
            <a:r>
              <a:rPr lang="en-US" dirty="0"/>
              <a:t> Moves away from intuition or guesswork towards evidence-based choices.</a:t>
            </a:r>
          </a:p>
          <a:p>
            <a:r>
              <a:rPr lang="en-US" b="1" dirty="0"/>
              <a:t>Proactive vs. Reactive:</a:t>
            </a:r>
            <a:r>
              <a:rPr lang="en-US" dirty="0"/>
              <a:t> Enables organizations to anticipate future events and act proactively rather than just reacting to them.</a:t>
            </a:r>
          </a:p>
          <a:p>
            <a:r>
              <a:rPr lang="en-US" b="1" dirty="0"/>
              <a:t>Strategic Planning:</a:t>
            </a:r>
            <a:r>
              <a:rPr lang="en-US" dirty="0"/>
              <a:t> Big Data insights are now a fundamental component of an organization's long-term strategy.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2BFA5-9437-11F3-91D7-9798CD49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8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4C09-C1E7-B942-E1BA-A7BECA39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04088"/>
            <a:ext cx="8915400" cy="1143000"/>
          </a:xfrm>
        </p:spPr>
        <p:txBody>
          <a:bodyPr>
            <a:noAutofit/>
          </a:bodyPr>
          <a:lstStyle/>
          <a:p>
            <a:r>
              <a:rPr lang="en-US" sz="4000" b="1" dirty="0"/>
              <a:t>The Role of Big Data in Strategic Planning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B7CCD-B745-5D16-5F51-60FCA219E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Informed Strategy:</a:t>
            </a:r>
            <a:r>
              <a:rPr lang="en-US" dirty="0"/>
              <a:t> Insights provide a clear picture of market opportunities, threats, and organizational strengths and weaknesses.</a:t>
            </a:r>
          </a:p>
          <a:p>
            <a:r>
              <a:rPr lang="en-US" b="1" dirty="0"/>
              <a:t>Dynamic Planning:</a:t>
            </a:r>
            <a:r>
              <a:rPr lang="en-US" dirty="0"/>
              <a:t> Strategic plans can be continuously adapted based on new data and insights, allowing for greater agility.</a:t>
            </a:r>
          </a:p>
          <a:p>
            <a:r>
              <a:rPr lang="en-US" b="1" dirty="0"/>
              <a:t>Future-Proofing:</a:t>
            </a:r>
            <a:r>
              <a:rPr lang="en-US" dirty="0"/>
              <a:t> Organizations can use predictive analytics to model different future scenarios and prepare accordingly.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B024F-57C6-4864-7109-7B1FCDFC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34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7B42-D663-F9A0-C2FD-754FCC7A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Case Study: Walmart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DB3C5-99D3-1449-B770-C83884051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Challenge:</a:t>
            </a:r>
            <a:r>
              <a:rPr lang="en-US" dirty="0"/>
              <a:t> Optimizing supply chain and in-store operations.</a:t>
            </a:r>
          </a:p>
          <a:p>
            <a:r>
              <a:rPr lang="en-US" b="1" dirty="0"/>
              <a:t>How Big Data Helped:</a:t>
            </a:r>
            <a:endParaRPr lang="en-US" dirty="0"/>
          </a:p>
          <a:p>
            <a:pPr lvl="1"/>
            <a:r>
              <a:rPr lang="en-US" dirty="0"/>
              <a:t>Analyzed weather patterns and point-of-sale data.</a:t>
            </a:r>
          </a:p>
          <a:p>
            <a:pPr lvl="1"/>
            <a:r>
              <a:rPr lang="en-US" b="1" dirty="0"/>
              <a:t>Insight:</a:t>
            </a:r>
            <a:r>
              <a:rPr lang="en-US" dirty="0"/>
              <a:t> During a hurricane forecast, the data showed a spike in demand for not just water and batteries, but also </a:t>
            </a:r>
            <a:r>
              <a:rPr lang="en-US" b="1" dirty="0"/>
              <a:t>strawberry Pop-Tarts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Walmart stocked more Pop-Tarts in stores in the affected area, increasing sales and customer satisfaction. This illustrates a unique, non-obvious insight that manual analysis would likely miss.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B98F7-2181-5608-EAB3-C523F453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4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8AF0-53EE-52A9-B122-0D477947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Case Study 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7CBBA-B431-6A52-3599-0711B62B0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257800"/>
          </a:xfrm>
        </p:spPr>
        <p:txBody>
          <a:bodyPr>
            <a:normAutofit/>
          </a:bodyPr>
          <a:lstStyle/>
          <a:p>
            <a:r>
              <a:rPr lang="en-US" sz="2800" b="1" dirty="0"/>
              <a:t>Business:</a:t>
            </a:r>
            <a:r>
              <a:rPr lang="en-US" sz="2800" dirty="0"/>
              <a:t> Starbucks uses data on demographics, traffic, and customer preferences to select store locations strategically.</a:t>
            </a:r>
          </a:p>
          <a:p>
            <a:r>
              <a:rPr lang="en-US" sz="2800" b="1" dirty="0"/>
              <a:t>Healthcare:</a:t>
            </a:r>
            <a:r>
              <a:rPr lang="en-US" sz="2800" dirty="0"/>
              <a:t> IBM Watson supports oncologists in analyzing thousands of research papers to provide treatment options.</a:t>
            </a:r>
          </a:p>
          <a:p>
            <a:r>
              <a:rPr lang="en-US" sz="2800" b="1" dirty="0"/>
              <a:t>Finance:</a:t>
            </a:r>
            <a:r>
              <a:rPr lang="en-US" sz="2800" dirty="0"/>
              <a:t> PayPal reduces fraud losses significantly by applying Big Data models to detect suspicious activity.</a:t>
            </a:r>
          </a:p>
          <a:p>
            <a:r>
              <a:rPr lang="en-US" sz="2800" dirty="0"/>
              <a:t>Use these examples to highlight </a:t>
            </a:r>
            <a:r>
              <a:rPr lang="en-US" sz="2800" b="1" dirty="0"/>
              <a:t>practical, real-world impacts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5DABE-B102-E0B8-835F-95275EA8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9E-C34D-224E-2FB0-DB1161BF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8454-5DD8-6E65-B122-D3155540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Data is more than just a buzzword; it's a transformative force.</a:t>
            </a:r>
          </a:p>
          <a:p>
            <a:r>
              <a:rPr lang="en-US" dirty="0"/>
              <a:t>The ability to derive </a:t>
            </a:r>
            <a:r>
              <a:rPr lang="en-US" b="1" dirty="0"/>
              <a:t>actionable insights</a:t>
            </a:r>
            <a:r>
              <a:rPr lang="en-US" dirty="0"/>
              <a:t> from this data is the key to unlocking new value and achieving success in the modern world.</a:t>
            </a:r>
          </a:p>
          <a:p>
            <a:r>
              <a:rPr lang="en-US" dirty="0"/>
              <a:t>Embracing a </a:t>
            </a:r>
            <a:r>
              <a:rPr lang="en-US" b="1" dirty="0"/>
              <a:t>data-driven culture</a:t>
            </a:r>
            <a:r>
              <a:rPr lang="en-US" dirty="0"/>
              <a:t> is essential for staying competitive and relevant.</a:t>
            </a:r>
          </a:p>
          <a:p>
            <a:r>
              <a:rPr lang="en-US" b="1" dirty="0"/>
              <a:t>Questions?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87D4F-56EF-2719-3AFE-FFF13210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1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3">
            <a:extLst>
              <a:ext uri="{FF2B5EF4-FFF2-40B4-BE49-F238E27FC236}">
                <a16:creationId xmlns:a16="http://schemas.microsoft.com/office/drawing/2014/main" id="{3DDFDF7A-5984-492A-B70B-D7A0B148E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676400"/>
            <a:ext cx="8763000" cy="2343150"/>
          </a:xfrm>
        </p:spPr>
        <p:txBody>
          <a:bodyPr>
            <a:noAutofit/>
          </a:bodyPr>
          <a:lstStyle/>
          <a:p>
            <a:pPr algn="ctr"/>
            <a:r>
              <a:rPr lang="en-US" altLang="en-US" sz="5400" b="1" dirty="0">
                <a:solidFill>
                  <a:srgbClr val="C00000"/>
                </a:solidFill>
              </a:rPr>
              <a:t>Thank you</a:t>
            </a:r>
            <a:br>
              <a:rPr lang="en-US" altLang="en-US" sz="5400" b="1" dirty="0">
                <a:solidFill>
                  <a:srgbClr val="C00000"/>
                </a:solidFill>
              </a:rPr>
            </a:br>
            <a:br>
              <a:rPr lang="en-US" altLang="en-US" sz="5400" b="1" dirty="0">
                <a:solidFill>
                  <a:srgbClr val="C00000"/>
                </a:solidFill>
              </a:rPr>
            </a:br>
            <a:endParaRPr lang="en-US" altLang="en-US" sz="5400" b="1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AB7C6D-6511-68E2-E53A-9DA1446C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5F4DE-D9B3-DA35-4ADE-DA74688C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Discussion Questions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F97B61-B695-CC9B-5109-D73E15701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Notes:</a:t>
            </a:r>
            <a:endParaRPr lang="en-US" dirty="0"/>
          </a:p>
          <a:p>
            <a:r>
              <a:rPr lang="en-US" dirty="0"/>
              <a:t>Encourage students to think critically:</a:t>
            </a:r>
          </a:p>
          <a:p>
            <a:pPr lvl="1"/>
            <a:r>
              <a:rPr lang="en-US" dirty="0"/>
              <a:t>Many companies collect data but fail to analyze it. How can organizations avoid being “data rich but insight poor”?</a:t>
            </a:r>
          </a:p>
          <a:p>
            <a:pPr lvl="1"/>
            <a:r>
              <a:rPr lang="en-US" dirty="0"/>
              <a:t>What risks do companies face if they </a:t>
            </a:r>
            <a:r>
              <a:rPr lang="en-US" b="1" dirty="0"/>
              <a:t>over-rely</a:t>
            </a:r>
            <a:r>
              <a:rPr lang="en-US" dirty="0"/>
              <a:t> on Big Data (e.g., ignoring human judgment, data privacy issues)?</a:t>
            </a:r>
          </a:p>
          <a:p>
            <a:pPr lvl="1"/>
            <a:r>
              <a:rPr lang="en-US" dirty="0"/>
              <a:t>Which industry do students think benefits the most from Big Data insights — and why?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2A1812-004C-82DB-374F-74046838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72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29832</TotalTime>
  <Words>891</Words>
  <Application>Microsoft Office PowerPoint</Application>
  <PresentationFormat>On-screen Show (4:3)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Constantia</vt:lpstr>
      <vt:lpstr>Calibri</vt:lpstr>
      <vt:lpstr>Wingdings 2</vt:lpstr>
      <vt:lpstr>Flow</vt:lpstr>
      <vt:lpstr>  Data Science and Big Data Analytics</vt:lpstr>
      <vt:lpstr>Introduction to Big Data </vt:lpstr>
      <vt:lpstr>The Shift from Data to Insights </vt:lpstr>
      <vt:lpstr>Why are Big Data Insights Crucial? </vt:lpstr>
      <vt:lpstr>Application in Business &amp; Marketing </vt:lpstr>
      <vt:lpstr>Application in Healthcare </vt:lpstr>
      <vt:lpstr>Application in Finance </vt:lpstr>
      <vt:lpstr>Impact on Decision-Making </vt:lpstr>
      <vt:lpstr>The Role of Big Data in Strategic Planning </vt:lpstr>
      <vt:lpstr>Case Study: Walmart </vt:lpstr>
      <vt:lpstr>Case Study Examples </vt:lpstr>
      <vt:lpstr>Conclusion </vt:lpstr>
      <vt:lpstr>Thank you  </vt:lpstr>
      <vt:lpstr>Discussion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charles edeki</cp:lastModifiedBy>
  <cp:revision>582</cp:revision>
  <cp:lastPrinted>2011-09-18T13:59:11Z</cp:lastPrinted>
  <dcterms:created xsi:type="dcterms:W3CDTF">2011-09-18T13:59:01Z</dcterms:created>
  <dcterms:modified xsi:type="dcterms:W3CDTF">2025-08-22T00:28:39Z</dcterms:modified>
</cp:coreProperties>
</file>